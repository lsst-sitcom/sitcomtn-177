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State Estimation: The Inverse Problem</a:t>
            </a:r>
          </a:p>
          <a:p>
            <a:pPr algn="ctr">
              <a:defRPr sz="2400"/>
            </a:pPr>
            <a:r>
              <a:t>SVD Truncation vs Noise-Weighted Pseudo-Inverse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Forward model with measurement noise:</a:t>
            </a:r>
          </a:p>
          <a:p>
            <a:pPr lvl="1">
              <a:spcAft>
                <a:spcPts val="1200"/>
              </a:spcAft>
              <a:defRPr sz="2000"/>
            </a:pPr>
            <a:r>
              <a:t>y = A·x + 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Where:</a:t>
            </a:r>
          </a:p>
          <a:p>
            <a:pPr lvl="1">
              <a:spcAft>
                <a:spcPts val="1200"/>
              </a:spcAft>
              <a:defRPr sz="2000"/>
            </a:pPr>
            <a:r>
              <a:t>• y ∈ ℝᵐ — measured wavefront (Zernike coefficients)</a:t>
            </a:r>
          </a:p>
          <a:p>
            <a:pPr lvl="1">
              <a:spcAft>
                <a:spcPts val="1200"/>
              </a:spcAft>
              <a:defRPr sz="2000"/>
            </a:pPr>
            <a:r>
              <a:t>• A ∈ ℝᵐˣⁿ — sensitivity matrix (m &gt; n, overdetermined)</a:t>
            </a:r>
          </a:p>
          <a:p>
            <a:pPr lvl="1">
              <a:spcAft>
                <a:spcPts val="1200"/>
              </a:spcAft>
              <a:defRPr sz="2000"/>
            </a:pPr>
            <a:r>
              <a:t>• x ∈ ℝⁿ — DOF state to estimate</a:t>
            </a:r>
          </a:p>
          <a:p>
            <a:pPr lvl="1">
              <a:spcAft>
                <a:spcPts val="1200"/>
              </a:spcAft>
              <a:defRPr sz="2000"/>
            </a:pPr>
            <a:r>
              <a:t>• n — measurement noise with covariance Cₙ = E[nnᵀ]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Goal: Estimate x̂ given measured 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Approach 1: SVD with Truncation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Singular Value Decomposition of A:</a:t>
            </a:r>
          </a:p>
          <a:p>
            <a:pPr lvl="1">
              <a:spcAft>
                <a:spcPts val="1200"/>
              </a:spcAft>
              <a:defRPr sz="2000"/>
            </a:pPr>
            <a:r>
              <a:t>A = U·Σ·Vₕ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Pseudo-inverse:</a:t>
            </a:r>
          </a:p>
          <a:p>
            <a:pPr lvl="1">
              <a:spcAft>
                <a:spcPts val="1200"/>
              </a:spcAft>
              <a:defRPr sz="2000"/>
            </a:pPr>
            <a:r>
              <a:t>A⁺ = Vₕᵀ·Σ⁺·Uᵀ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where Σ⁺ = diag(1/σ₁, 1/σ₂, ..., 1/σₙ)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Problem: Small σᵢ → 1/σᵢ → ∞ amplifies noise!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SVD Truncation 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Truncate at index k: set σᵢ = 0 for i &gt; k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Truncated pseudo-inverse:</a:t>
            </a:r>
          </a:p>
          <a:p>
            <a:pPr lvl="1">
              <a:spcAft>
                <a:spcPts val="1200"/>
              </a:spcAft>
              <a:defRPr sz="2000"/>
            </a:pPr>
            <a:r>
              <a:t>Aₖ⁺ = Vₕ,ₖᵀ · Σₖ⁻¹ · Uₖᵀ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Solution:</a:t>
            </a:r>
          </a:p>
          <a:p>
            <a:pPr lvl="1">
              <a:spcAft>
                <a:spcPts val="1200"/>
              </a:spcAft>
              <a:defRPr sz="2000"/>
            </a:pPr>
            <a:r>
              <a:t>x̂ₜᵣᵤₙc = Aₖ⁺ · 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Discards n−k least-constrained DOF combinations</a:t>
            </a:r>
          </a:p>
          <a:p>
            <a:pPr>
              <a:spcAft>
                <a:spcPts val="1200"/>
              </a:spcAft>
              <a:defRPr sz="2000"/>
            </a:pPr>
            <a:r>
              <a:t>Retains only directions producing measurable wavefront changes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Example: k=12 with n=22 DOFs → keeps 12 most important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Approach 2: Noise-Weighted Pseudo-Inverse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Weighted least-squares objective:</a:t>
            </a:r>
          </a:p>
          <a:p>
            <a:pPr lvl="1">
              <a:spcAft>
                <a:spcPts val="1200"/>
              </a:spcAft>
              <a:defRPr sz="2000"/>
            </a:pPr>
            <a:r>
              <a:t>min  (y − Ax)ᵀ Cₙ⁻¹ (y − Ax)</a:t>
            </a:r>
          </a:p>
          <a:p>
            <a:pPr lvl="1">
              <a:spcAft>
                <a:spcPts val="1200"/>
              </a:spcAft>
              <a:defRPr sz="2000"/>
            </a:pPr>
            <a:r>
              <a:t>x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Analytical solution:</a:t>
            </a:r>
          </a:p>
          <a:p>
            <a:pPr lvl="1">
              <a:spcAft>
                <a:spcPts val="1200"/>
              </a:spcAft>
              <a:defRPr sz="2000"/>
            </a:pPr>
            <a:r>
              <a:t>x̂ᵥᵥₗₛ = (Aᵀ Cₙ⁻¹ A)⁻¹ Aᵀ Cₙ⁻¹ 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Down-weights Zernikes/sensors with high measurement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Whitening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Equivalent approach: whiten the problem first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Define whitened quantities:</a:t>
            </a:r>
          </a:p>
          <a:p>
            <a:pPr lvl="1">
              <a:spcAft>
                <a:spcPts val="1200"/>
              </a:spcAft>
              <a:defRPr sz="2000"/>
            </a:pPr>
            <a:r>
              <a:t>ȳ = Cₙ⁻¹/² · y</a:t>
            </a:r>
          </a:p>
          <a:p>
            <a:pPr lvl="1">
              <a:spcAft>
                <a:spcPts val="1200"/>
              </a:spcAft>
              <a:defRPr sz="2000"/>
            </a:pPr>
            <a:r>
              <a:t>Ā = Cₙ⁻¹/² · 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Then solve standard (unweighted) least-squares:</a:t>
            </a:r>
          </a:p>
          <a:p>
            <a:pPr lvl="1">
              <a:spcAft>
                <a:spcPts val="1200"/>
              </a:spcAft>
              <a:defRPr sz="2000"/>
            </a:pPr>
            <a:r>
              <a:t>x̂ = Ā⁺ · ȳ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This is computationally more stable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Combined Approach (ts_ofc)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StateEstimator combines both methods: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Step 1 — Whiten by noise covariance:</a:t>
            </a:r>
          </a:p>
          <a:p>
            <a:pPr lvl="1">
              <a:spcAft>
                <a:spcPts val="1200"/>
              </a:spcAft>
              <a:defRPr sz="2000"/>
            </a:pPr>
            <a:r>
              <a:t>ȳ = Cₙ⁻¹/² · y,    Ā = Cₙ⁻¹/² · Ã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Step 2 — Truncated pseudo-inverse of whitened system:</a:t>
            </a:r>
          </a:p>
          <a:p>
            <a:pPr lvl="1">
              <a:spcAft>
                <a:spcPts val="1200"/>
              </a:spcAft>
              <a:defRPr sz="2000"/>
            </a:pPr>
            <a:r>
              <a:t>x̃ = Āₖ⁺ · ȳ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Step 3 — De-normalize to physical DOFs:</a:t>
            </a:r>
          </a:p>
          <a:p>
            <a:pPr lvl="1">
              <a:spcAft>
                <a:spcPts val="1200"/>
              </a:spcAft>
              <a:defRPr sz="2000"/>
            </a:pPr>
            <a:r>
              <a:t>x̂ = N · x̃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Compact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Combined solution in one line:</a:t>
            </a:r>
          </a:p>
          <a:p>
            <a:pPr>
              <a:spcAft>
                <a:spcPts val="1200"/>
              </a:spcAft>
              <a:defRPr sz="2000"/>
            </a:pPr>
          </a:p>
          <a:p>
            <a:pPr lvl="1">
              <a:spcAft>
                <a:spcPts val="1200"/>
              </a:spcAft>
              <a:defRPr sz="2000"/>
            </a:pPr>
            <a:r>
              <a:t>x̂ = N · (Cₙ⁻¹/² Ã)ₖ⁺ · Cₙ⁻¹/² · 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Where:</a:t>
            </a:r>
          </a:p>
          <a:p>
            <a:pPr lvl="1">
              <a:spcAft>
                <a:spcPts val="1200"/>
              </a:spcAft>
              <a:defRPr sz="2000"/>
            </a:pPr>
            <a:r>
              <a:t>• N — DOF normalization matrix</a:t>
            </a:r>
          </a:p>
          <a:p>
            <a:pPr lvl="1">
              <a:spcAft>
                <a:spcPts val="1200"/>
              </a:spcAft>
              <a:defRPr sz="2000"/>
            </a:pPr>
            <a:r>
              <a:t>• Ã — normalized sensitivity matrix</a:t>
            </a:r>
          </a:p>
          <a:p>
            <a:pPr lvl="1">
              <a:spcAft>
                <a:spcPts val="1200"/>
              </a:spcAft>
              <a:defRPr sz="2000"/>
            </a:pPr>
            <a:r>
              <a:t>• Cₙ — measurement noise covariance</a:t>
            </a:r>
          </a:p>
          <a:p>
            <a:pPr lvl="1">
              <a:spcAft>
                <a:spcPts val="1200"/>
              </a:spcAft>
              <a:defRPr sz="2000"/>
            </a:pPr>
            <a:r>
              <a:t>• (·)ₖ⁺ — truncated pseudo-inverse (k modes)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References:</a:t>
            </a:r>
          </a:p>
          <a:p>
            <a:pPr lvl="1">
              <a:spcAft>
                <a:spcPts val="1200"/>
              </a:spcAft>
              <a:defRPr sz="2000"/>
            </a:pPr>
            <a:r>
              <a:t>• arXiv:2406.04656, Eq. (10)</a:t>
            </a:r>
          </a:p>
          <a:p>
            <a:pPr lvl="1">
              <a:spcAft>
                <a:spcPts val="1200"/>
              </a:spcAft>
              <a:defRPr sz="2000"/>
            </a:pPr>
            <a:r>
              <a:t>• Martínez-Galarza et al. 2024, ApJ 974:108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Summary: Two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SVD Truncation:</a:t>
            </a:r>
          </a:p>
          <a:p>
            <a:pPr lvl="1">
              <a:spcAft>
                <a:spcPts val="1200"/>
              </a:spcAft>
              <a:defRPr sz="2000"/>
            </a:pPr>
            <a:r>
              <a:t>• Regularizes by discarding small singular values</a:t>
            </a:r>
          </a:p>
          <a:p>
            <a:pPr lvl="1">
              <a:spcAft>
                <a:spcPts val="1200"/>
              </a:spcAft>
              <a:defRPr sz="2000"/>
            </a:pPr>
            <a:r>
              <a:t>• Prevents noise amplification from 1/σᵢ → ∞</a:t>
            </a:r>
          </a:p>
          <a:p>
            <a:pPr lvl="1">
              <a:spcAft>
                <a:spcPts val="1200"/>
              </a:spcAft>
              <a:defRPr sz="2000"/>
            </a:pPr>
            <a:r>
              <a:t>• Keeps k most optically important modes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Noise-Weighted Pseudo-Inverse:</a:t>
            </a:r>
          </a:p>
          <a:p>
            <a:pPr lvl="1">
              <a:spcAft>
                <a:spcPts val="1200"/>
              </a:spcAft>
              <a:defRPr sz="2000"/>
            </a:pPr>
            <a:r>
              <a:t>• Uses measurement covariance Cₙ</a:t>
            </a:r>
          </a:p>
          <a:p>
            <a:pPr lvl="1">
              <a:spcAft>
                <a:spcPts val="1200"/>
              </a:spcAft>
              <a:defRPr sz="2000"/>
            </a:pPr>
            <a:r>
              <a:t>• Down-weights uncertain measurements</a:t>
            </a:r>
          </a:p>
          <a:p>
            <a:pPr lvl="1">
              <a:spcAft>
                <a:spcPts val="1200"/>
              </a:spcAft>
              <a:defRPr sz="2000"/>
            </a:pPr>
            <a:r>
              <a:t>• Optimal under Gaussian noise assumptions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ts_ofc combines both: whiten first, then truncate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